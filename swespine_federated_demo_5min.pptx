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80"/>
    <p:restoredTop sz="94695"/>
  </p:normalViewPr>
  <p:slideViewPr>
    <p:cSldViewPr snapToGrid="0" snapToObjects="1">
      <p:cViewPr varScale="1">
        <p:scale>
          <a:sx n="210" d="100"/>
          <a:sy n="210" d="100"/>
        </p:scale>
        <p:origin x="11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dirty="0">
                <a:solidFill>
                  <a:srgbClr val="0F172A"/>
                </a:solidFill>
              </a:rPr>
              <a:t>Federated Clinical Statistics on </a:t>
            </a:r>
            <a:r>
              <a:rPr sz="3600" b="1" dirty="0" err="1">
                <a:solidFill>
                  <a:srgbClr val="0F172A"/>
                </a:solidFill>
              </a:rPr>
              <a:t>Swespine</a:t>
            </a:r>
            <a:r>
              <a:rPr sz="3600" b="1" dirty="0">
                <a:solidFill>
                  <a:srgbClr val="0F172A"/>
                </a:solidFill>
              </a:rPr>
              <a:t> (Cervical)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475569"/>
                </a:solidFill>
              </a:rPr>
              <a:t>Exact distributed estimation (not FedAvg): central vs simulated multi-clinic federation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5669280" cy="2743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73152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What this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95728"/>
            <a:ext cx="53949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Registry-scale demo: 26 clinics as separate 'sites' (n=5,797)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Exact equivalence to pooled analysis (typically ~1e−12)</a:t>
            </a:r>
            <a:endParaRPr lang="sv-SE" dirty="0"/>
          </a:p>
          <a:p>
            <a:pPr>
              <a:defRPr sz="1300">
                <a:solidFill>
                  <a:srgbClr val="1E293B"/>
                </a:solidFill>
              </a:defRPr>
            </a:pPr>
            <a:endParaRPr dirty="0"/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lang="sv-SE" dirty="0">
                <a:sym typeface="Wingdings" pitchFamily="2" charset="2"/>
              </a:rPr>
              <a:t> </a:t>
            </a:r>
            <a:r>
              <a:rPr dirty="0"/>
              <a:t>Outputs: descriptive stats, Welch t-test, 2×2 chi-square, OLS, logistic MLE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828800"/>
            <a:ext cx="5394960" cy="2743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828800"/>
            <a:ext cx="73152" cy="2743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dirty="0"/>
              <a:t>What leaves a clinic (only aggregates)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95728"/>
            <a:ext cx="51206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Score/gradient vector, Hessian matrix, log-likelihood, sample size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For OLS: X'X, </a:t>
            </a:r>
            <a:r>
              <a:rPr dirty="0" err="1"/>
              <a:t>X'y</a:t>
            </a:r>
            <a:r>
              <a:rPr dirty="0"/>
              <a:t>, </a:t>
            </a:r>
            <a:r>
              <a:rPr dirty="0" err="1"/>
              <a:t>y'y</a:t>
            </a:r>
            <a:r>
              <a:rPr dirty="0"/>
              <a:t>; for chi-square: 2×2 counts</a:t>
            </a:r>
            <a:endParaRPr lang="sv-SE" dirty="0"/>
          </a:p>
          <a:p>
            <a:pPr>
              <a:defRPr sz="1300">
                <a:solidFill>
                  <a:srgbClr val="1E293B"/>
                </a:solidFill>
              </a:defRPr>
            </a:pPr>
            <a:endParaRPr dirty="0"/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lang="sv-SE" dirty="0">
                <a:sym typeface="Wingdings" pitchFamily="2" charset="2"/>
              </a:rPr>
              <a:t> </a:t>
            </a:r>
            <a:r>
              <a:rPr dirty="0"/>
              <a:t>No patient-level rows or identifiers leave the site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6631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lab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Benji •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Why federated stats for Swespine?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692414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dirty="0">
                <a:solidFill>
                  <a:srgbClr val="475569"/>
                </a:solidFill>
              </a:rPr>
              <a:t>Goal: </a:t>
            </a:r>
            <a:r>
              <a:rPr lang="sv-SE" sz="1800" dirty="0" err="1">
                <a:solidFill>
                  <a:srgbClr val="475569"/>
                </a:solidFill>
              </a:rPr>
              <a:t>methodology</a:t>
            </a:r>
            <a:r>
              <a:rPr sz="1800" dirty="0">
                <a:solidFill>
                  <a:srgbClr val="475569"/>
                </a:solidFill>
              </a:rPr>
              <a:t> </a:t>
            </a:r>
            <a:r>
              <a:rPr lang="sv-SE" sz="1800" dirty="0" err="1">
                <a:solidFill>
                  <a:srgbClr val="475569"/>
                </a:solidFill>
              </a:rPr>
              <a:t>papers</a:t>
            </a:r>
            <a:r>
              <a:rPr sz="1800" dirty="0">
                <a:solidFill>
                  <a:srgbClr val="475569"/>
                </a:solidFill>
              </a:rPr>
              <a:t> +</a:t>
            </a:r>
            <a:r>
              <a:rPr lang="sv-SE" sz="1800" dirty="0">
                <a:solidFill>
                  <a:srgbClr val="475569"/>
                </a:solidFill>
              </a:rPr>
              <a:t> </a:t>
            </a:r>
            <a:r>
              <a:rPr lang="sv-SE" sz="1800" dirty="0" err="1">
                <a:solidFill>
                  <a:srgbClr val="475569"/>
                </a:solidFill>
              </a:rPr>
              <a:t>future</a:t>
            </a:r>
            <a:r>
              <a:rPr lang="sv-SE" sz="1800" dirty="0">
                <a:solidFill>
                  <a:srgbClr val="475569"/>
                </a:solidFill>
              </a:rPr>
              <a:t> multicenter </a:t>
            </a:r>
            <a:r>
              <a:rPr lang="sv-SE" sz="1800" dirty="0" err="1">
                <a:solidFill>
                  <a:srgbClr val="475569"/>
                </a:solidFill>
              </a:rPr>
              <a:t>federated</a:t>
            </a:r>
            <a:r>
              <a:rPr lang="sv-SE" sz="1800" dirty="0">
                <a:solidFill>
                  <a:srgbClr val="475569"/>
                </a:solidFill>
              </a:rPr>
              <a:t> </a:t>
            </a:r>
            <a:r>
              <a:rPr lang="sv-SE" sz="1800" dirty="0" err="1">
                <a:solidFill>
                  <a:srgbClr val="475569"/>
                </a:solidFill>
              </a:rPr>
              <a:t>infrastructure</a:t>
            </a:r>
            <a:endParaRPr sz="1800" dirty="0">
              <a:solidFill>
                <a:srgbClr val="47556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56692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Problem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39496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Multicenter registries: pooling patient data is often blocked (governance, GDPR, contracts)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Yet we need multicenter risk/outcome models and comparisons</a:t>
            </a:r>
            <a:endParaRPr lang="sv-SE" dirty="0"/>
          </a:p>
          <a:p>
            <a:pPr>
              <a:defRPr sz="1300">
                <a:solidFill>
                  <a:srgbClr val="1E293B"/>
                </a:solidFill>
              </a:defRPr>
            </a:pPr>
            <a:endParaRPr dirty="0"/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lang="sv-SE" dirty="0">
                <a:sym typeface="Wingdings" pitchFamily="2" charset="2"/>
              </a:rPr>
              <a:t> </a:t>
            </a:r>
            <a:r>
              <a:rPr dirty="0"/>
              <a:t>Federated approach: 'bring the computation to the data'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45920"/>
            <a:ext cx="539496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645920"/>
            <a:ext cx="73152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dirty="0"/>
              <a:t>What </a:t>
            </a:r>
            <a:r>
              <a:rPr lang="sv-SE" dirty="0" err="1"/>
              <a:t>we</a:t>
            </a:r>
            <a:r>
              <a:rPr dirty="0"/>
              <a:t> demonstrated (</a:t>
            </a:r>
            <a:r>
              <a:rPr dirty="0" err="1"/>
              <a:t>Swespine</a:t>
            </a:r>
            <a:r>
              <a:rPr dirty="0"/>
              <a:t> demo)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12848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Central vs federated produce identical results for multiple analyses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Fitted models: NRS arm pain (OLS) and satisfaction (logistic)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Group comparisons: age (Welch) &amp; sex vs diagnosis (chi-square)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Swespine cervical registry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564802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dirty="0">
                <a:solidFill>
                  <a:srgbClr val="0F172A"/>
                </a:solidFill>
              </a:rPr>
              <a:t>Results: central == federated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07246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dirty="0">
                <a:solidFill>
                  <a:srgbClr val="475569"/>
                </a:solidFill>
              </a:rPr>
              <a:t>Key point: numerically identical estimators; differences are </a:t>
            </a:r>
            <a:r>
              <a:rPr lang="sv-SE" sz="1800" dirty="0">
                <a:solidFill>
                  <a:srgbClr val="475569"/>
                </a:solidFill>
              </a:rPr>
              <a:t>just </a:t>
            </a:r>
            <a:r>
              <a:rPr sz="1800" dirty="0" err="1">
                <a:solidFill>
                  <a:srgbClr val="475569"/>
                </a:solidFill>
              </a:rPr>
              <a:t>floatingpoint</a:t>
            </a:r>
            <a:r>
              <a:rPr sz="1800" dirty="0">
                <a:solidFill>
                  <a:srgbClr val="475569"/>
                </a:solidFill>
              </a:rPr>
              <a:t> noise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242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Analysis /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02352" y="1600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7456" y="1600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Federated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600200"/>
            <a:ext cx="248716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Match? (max |diff|)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240280"/>
            <a:ext cx="4242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Mean age (n=5797)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22402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49.215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7456" y="22402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49.215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0280"/>
            <a:ext cx="248716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~0 (3e−13)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34640"/>
            <a:ext cx="10972800" cy="640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880360"/>
            <a:ext cx="4242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Mean BMI (n=5134)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8803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27.011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7456" y="28803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27.011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880360"/>
            <a:ext cx="248716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109728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520440"/>
            <a:ext cx="4242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Welch t-test age (radic vs myelo)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520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t=12.96, df=678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7456" y="3520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t=12.96, df=678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520440"/>
            <a:ext cx="248716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~0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4160520"/>
            <a:ext cx="4242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Chi-square (sex vs myelopathy, Yates)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41605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X²=0.2968, p=0.586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41605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X²=0.2968, p=0.586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160520"/>
            <a:ext cx="248716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54880"/>
            <a:ext cx="109728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4800600"/>
            <a:ext cx="4242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OLS: NRS arm 12m ~ age + sexM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4800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β matches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7456" y="4800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β matches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800600"/>
            <a:ext cx="248716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≈2e−14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94960"/>
            <a:ext cx="10972800" cy="640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5440680"/>
            <a:ext cx="42428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Logistic: satisfied 12m ~ age + sexM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2352" y="5440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β matches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7456" y="5440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β matches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440680"/>
            <a:ext cx="248716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≈4e−12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solidFill>
            <a:srgbClr val="FEFCE8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>
                <a:solidFill>
                  <a:srgbClr val="78350F"/>
                </a:solidFill>
              </a:defRPr>
            </a:pPr>
            <a:r>
              <a:rPr dirty="0"/>
              <a:t>Interpretation: federated MLE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dirty="0"/>
              <a:t>reconstruct pooled estimates exactly because log-likelihood, score and Hessian are additive across sites.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How it works (logistic regression MLE)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475569"/>
                </a:solidFill>
              </a:rPr>
              <a:t>Distributed Newton / IRLS: sum local derivatives → exact global update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82880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46304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Additivity:  ℓ(β)=∑g ℓg(β)  ⇒  score g(β)=∑g gg(β), Hessian H(β)=∑g Hg(β)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669280" cy="40233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73152" cy="4023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Per-site computations (hospital 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5394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Inputs: β (current coefficients), local Xg, yg (kept local)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ηg = Xg β ;  pg = sigmoid(ηg)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Score: gg = Xgᵀ(yg − pg)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Hessian: Hg = −Xgᵀ Wg Xg,  Wg=diag(pg(1−pg))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Returns only: gg, Hg, ℓg, 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011680"/>
            <a:ext cx="5394960" cy="40233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2011680"/>
            <a:ext cx="73152" cy="4023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1488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Coordinator update (exact Newton step)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060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repeat until convergence: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  request (gg, Hg, ℓg, ng) from each site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  g = ∑gg ;  H = ∑Hg ;  ℓ = ∑ℓg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  solve H Δ = g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  β_new = β − αΔ   (α=1, optional line search)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  stop if |ℓ_new−ℓ_old| &lt; tol  or ||g|| small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Exact distributed MLE (not FedAvg)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Client aggregates derivatives; sites keep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Implementation architecture (what runs where)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475569"/>
                </a:solidFill>
              </a:rPr>
              <a:t>Same math whether local simulation or HTTP plumber endpoints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511296" cy="42976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Coordinator (Client)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sends β</a:t>
            </a:r>
            <a:br/>
            <a:r>
              <a:t>• aggregates ∑grad, ∑H</a:t>
            </a:r>
            <a:br/>
            <a:r>
              <a:t>• updates β (Newton)</a:t>
            </a:r>
            <a:br/>
            <a:r>
              <a:t>• computes 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737360"/>
            <a:ext cx="1975104" cy="4297680"/>
          </a:xfrm>
          <a:prstGeom prst="rect">
            <a:avLst/>
          </a:prstGeom>
          <a:solidFill>
            <a:srgbClr val="F0FDFA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4E4A"/>
                </a:solidFill>
              </a:defRPr>
            </a:pPr>
            <a:r>
              <a:t>Hospital A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keeps data local</a:t>
            </a:r>
            <a:br/>
            <a:r>
              <a:t>returns only:</a:t>
            </a:r>
            <a:br/>
            <a:r>
              <a:t>• grad</a:t>
            </a:r>
            <a:br/>
            <a:r>
              <a:t>• Hessian</a:t>
            </a:r>
            <a:br/>
            <a:r>
              <a:t>• logLik</a:t>
            </a:r>
            <a:br/>
            <a:r>
              <a:t>• 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51376" y="3026664"/>
            <a:ext cx="877824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sosceles Triangle 6"/>
          <p:cNvSpPr/>
          <p:nvPr/>
        </p:nvSpPr>
        <p:spPr>
          <a:xfrm rot="5400000">
            <a:off x="4864608" y="2971800"/>
            <a:ext cx="164592" cy="13716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33488" y="1737360"/>
            <a:ext cx="1975104" cy="4297680"/>
          </a:xfrm>
          <a:prstGeom prst="rect">
            <a:avLst/>
          </a:prstGeom>
          <a:solidFill>
            <a:srgbClr val="F0FDFA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4E4A"/>
                </a:solidFill>
              </a:defRPr>
            </a:pPr>
            <a:r>
              <a:t>Hospital B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keeps data local</a:t>
            </a:r>
            <a:br/>
            <a:r>
              <a:t>returns only:</a:t>
            </a:r>
            <a:br/>
            <a:r>
              <a:t>• grad</a:t>
            </a:r>
            <a:br/>
            <a:r>
              <a:t>• Hessian</a:t>
            </a:r>
            <a:br/>
            <a:r>
              <a:t>• logLik</a:t>
            </a:r>
            <a:br/>
            <a:r>
              <a:t>• 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51376" y="3456432"/>
            <a:ext cx="3182112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 rot="5400000">
            <a:off x="7168896" y="3401568"/>
            <a:ext cx="164592" cy="13716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37776" y="1737360"/>
            <a:ext cx="1975104" cy="4297680"/>
          </a:xfrm>
          <a:prstGeom prst="rect">
            <a:avLst/>
          </a:prstGeom>
          <a:solidFill>
            <a:srgbClr val="F0FDFA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4E4A"/>
                </a:solidFill>
              </a:defRPr>
            </a:pPr>
            <a:r>
              <a:t>Hospital … (G)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keeps data local</a:t>
            </a:r>
            <a:br/>
            <a:r>
              <a:t>returns only:</a:t>
            </a:r>
            <a:br/>
            <a:r>
              <a:t>• grad</a:t>
            </a:r>
            <a:br/>
            <a:r>
              <a:t>• Hessian</a:t>
            </a:r>
            <a:br/>
            <a:r>
              <a:t>• logLik</a:t>
            </a:r>
            <a:br/>
            <a:r>
              <a:t>• 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3886200"/>
            <a:ext cx="548640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5400000">
            <a:off x="9473184" y="3831336"/>
            <a:ext cx="164592" cy="13716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5532120"/>
            <a:ext cx="73152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549833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dirty="0"/>
              <a:t>Key correctness checks we enforce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17341"/>
            <a:ext cx="106984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Identical term names / column ordering across sites; strict NA handling; binary coding for chi-square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Equivalence assertions: max |β_fed − β_pooled| ≈ 1e−12; same t/χ² within tolerance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70505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sv-SE" sz="3600" b="1" dirty="0">
                <a:solidFill>
                  <a:srgbClr val="0F172A"/>
                </a:solidFill>
              </a:rPr>
              <a:t>Is it </a:t>
            </a:r>
            <a:r>
              <a:rPr lang="sv-SE" sz="3600" b="1" dirty="0" err="1">
                <a:solidFill>
                  <a:srgbClr val="0F172A"/>
                </a:solidFill>
              </a:rPr>
              <a:t>really</a:t>
            </a:r>
            <a:r>
              <a:rPr lang="sv-SE" sz="3600" b="1" dirty="0">
                <a:solidFill>
                  <a:srgbClr val="0F172A"/>
                </a:solidFill>
              </a:rPr>
              <a:t> </a:t>
            </a:r>
            <a:r>
              <a:rPr lang="sv-SE" sz="3600" b="1" dirty="0" err="1">
                <a:solidFill>
                  <a:srgbClr val="0F172A"/>
                </a:solidFill>
              </a:rPr>
              <a:t>correct</a:t>
            </a:r>
            <a:r>
              <a:rPr lang="sv-SE" sz="3600" b="1" dirty="0">
                <a:solidFill>
                  <a:srgbClr val="0F172A"/>
                </a:solidFill>
              </a:rPr>
              <a:t>?</a:t>
            </a:r>
            <a:endParaRPr sz="3600" b="1" dirty="0">
              <a:solidFill>
                <a:srgbClr val="0F172A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476681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dirty="0">
                <a:solidFill>
                  <a:srgbClr val="475569"/>
                </a:solidFill>
              </a:rPr>
              <a:t>Assumptions, edge cases, and </a:t>
            </a:r>
            <a:r>
              <a:rPr lang="sv-SE" sz="1800" dirty="0" err="1">
                <a:solidFill>
                  <a:srgbClr val="475569"/>
                </a:solidFill>
              </a:rPr>
              <a:t>other</a:t>
            </a:r>
            <a:r>
              <a:rPr sz="1800" dirty="0">
                <a:solidFill>
                  <a:srgbClr val="475569"/>
                </a:solidFill>
              </a:rPr>
              <a:t>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566928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73152" cy="4572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Things that can break correctness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3949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Design-matrix drift: factor levels/contrasts differ across sites (we avoid via numeric indicators in demo)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Separation / rare events: Hessian near-singular → need damping/ridge and diagnostics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Different NA patterns across analyses: must define per-analysis inclusion rules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Small number of clusters: cluster-robust SE can be unstable (use jackknife/small-G corrections)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45920"/>
            <a:ext cx="539496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645920"/>
            <a:ext cx="7315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19969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lang="sv-SE" dirty="0"/>
              <a:t>D</a:t>
            </a:r>
            <a:r>
              <a:rPr dirty="0" err="1"/>
              <a:t>iscussion</a:t>
            </a:r>
            <a:r>
              <a:rPr dirty="0"/>
              <a:t>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12848"/>
            <a:ext cx="51206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Preferred inference: model-based vs cluster-robust vs jackknife for </a:t>
            </a:r>
            <a:r>
              <a:rPr lang="sv-SE" dirty="0" err="1"/>
              <a:t>e.g</a:t>
            </a:r>
            <a:r>
              <a:rPr lang="sv-SE" dirty="0"/>
              <a:t>. </a:t>
            </a:r>
            <a:r>
              <a:rPr dirty="0"/>
              <a:t>G≈26?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Minimum per-clinic sample/event threshold to include a site?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Roadmap: which next models matter (mixed effects? Cox?)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27631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Aim: methods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873</Words>
  <Application>Microsoft Macintosh PowerPoint</Application>
  <PresentationFormat>Bredbild</PresentationFormat>
  <Paragraphs>101</Paragraphs>
  <Slides>6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subject/>
  <dc:creator/>
  <cp:keywords/>
  <dc:description>generated using python-pptx</dc:description>
  <cp:lastModifiedBy>Mohsen Beygi</cp:lastModifiedBy>
  <cp:revision>2</cp:revision>
  <dcterms:created xsi:type="dcterms:W3CDTF">2013-01-27T09:14:16Z</dcterms:created>
  <dcterms:modified xsi:type="dcterms:W3CDTF">2026-02-19T15:45:38Z</dcterms:modified>
  <cp:category/>
</cp:coreProperties>
</file>